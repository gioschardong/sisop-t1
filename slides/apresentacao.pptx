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1"/>
    <p:restoredTop sz="94690"/>
  </p:normalViewPr>
  <p:slideViewPr>
    <p:cSldViewPr snapToGrid="0">
      <p:cViewPr varScale="1">
        <p:scale>
          <a:sx n="151" d="100"/>
          <a:sy n="151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Tempo médio (ms)</c:v>
          </c:tx>
          <c:spPr>
            <a:solidFill>
              <a:srgbClr val="256FB2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5E7185"/>
              </a:solidFill>
            </c:spPr>
            <c:extLst>
              <c:ext xmlns:c16="http://schemas.microsoft.com/office/drawing/2014/chart" uri="{C3380CC4-5D6E-409C-BE32-E72D297353CC}">
                <c16:uniqueId val="{00000001-DD5C-7340-B8B7-368090C9C00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5C-7340-B8B7-368090C9C004}"/>
              </c:ext>
            </c:extLst>
          </c:dPt>
          <c:dPt>
            <c:idx val="2"/>
            <c:invertIfNegative val="0"/>
            <c:bubble3D val="0"/>
            <c:spPr>
              <a:solidFill>
                <a:srgbClr val="F28C3C"/>
              </a:solidFill>
            </c:spPr>
            <c:extLst>
              <c:ext xmlns:c16="http://schemas.microsoft.com/office/drawing/2014/chart" uri="{C3380CC4-5D6E-409C-BE32-E72D297353CC}">
                <c16:uniqueId val="{00000005-DD5C-7340-B8B7-368090C9C0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72534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Sequencial</c:v>
                </c:pt>
                <c:pt idx="1">
                  <c:v>2 threads</c:v>
                </c:pt>
                <c:pt idx="2">
                  <c:v>4 threads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76.406999999999996</c:v>
                </c:pt>
                <c:pt idx="1">
                  <c:v>48.058</c:v>
                </c:pt>
                <c:pt idx="2">
                  <c:v>24.178999999999998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D5C-7340-B8B7-368090C9C0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DE5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pt-BR">
                    <a:latin typeface="Arial"/>
                    <a:ea typeface="Arial"/>
                    <a:cs typeface="Arial"/>
                  </a:rPr>
                  <a:t>milissegundos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w="9525">
            <a:solidFill>
              <a:srgbClr val="C8D5E2"/>
            </a:solidFill>
            <a:prstDash val="solid"/>
          </a:ln>
        </c:spPr>
        <c:txPr>
          <a:bodyPr anchorCtr="1"/>
          <a:lstStyle/>
          <a:p>
            <a:pPr>
              <a:defRPr sz="1425" b="1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Apresentação do trabalho prático. Tempo sugerido: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Trabalho_Pratico_Processos_Threads_Contagem_Objetos.pdf, seções 1 e 7, exemplo 1. Tempo sugerido: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enunciado, requisitos 16 a 21 e 41. Destacar que esta versão define a referência de correção. Tempo sugerido: 1 minuto e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enunciado, seções 4.3 e 5, exemplo 2. A linha laranja representa a fronteira entre as duas faixas. Tempo sugerido: 1 minuto e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enunciado, requisitos 25, 26 e 29 a 33; material de aula sobre pthread_join e memória compartilhada. Tempo sugerido: 1 minuto e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resultados/obrigatorios.md e execução automatizada de tests/run_tests.sh. Tempo sugerido: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results/benchmark.csv e results/desempenho.md. Ambiente: Darwin 24.6.0 arm64, Apple clang 17. Tempos médios: 0,076406956 s, 0,048057651 s e 0,024179363 s. Tempo sugerido: 1 minuto e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Encerrar com os comandos já preparados para a demonstração. Tempo sugerido: 50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DE63CA3-8B68-483C-B761-1F922B9AE7BD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A9CB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CBE7"/>
                </a:solidFill>
                <a:latin typeface="Arial"/>
                <a:ea typeface="Arial"/>
                <a:cs typeface="Arial"/>
              </a:rPr>
              <a:t>CONTAGEM PARALELA DE OBJETOS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190052-E5D4-498F-BF7E-38D290D38598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91440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Componentes conexos</a:t>
            </a:r>
          </a:p>
          <a:p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 matriz binária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5504217C-C16E-4B72-91F2-3D57E59D75E7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286250" cy="0"/>
          </a:xfrm>
          <a:prstGeom prst="line">
            <a:avLst/>
          </a:prstGeom>
          <a:noFill/>
          <a:ln w="762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AF53C3-9134-487D-8AE4-F92980B098C8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7239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D7E7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7F3"/>
                </a:solidFill>
                <a:latin typeface="Arial"/>
                <a:ea typeface="Arial"/>
                <a:cs typeface="Arial"/>
              </a:rPr>
              <a:t>ANSI C · Pthreads · conectividade 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A598ED-F902-42C2-BE22-7374272419C7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8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 Schmitt e </a:t>
            </a:r>
            <a:r>
              <a:rPr sz="18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Giovanni Schardong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78FB41-6EE0-4368-BBAB-00646E5A9F7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5715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A9CB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CBE7"/>
                </a:solidFill>
                <a:latin typeface="Arial"/>
                <a:ea typeface="Arial"/>
                <a:cs typeface="Arial"/>
              </a:rPr>
              <a:t>Sistemas Operacionais · 2026/II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45CF3F-824E-409B-BC78-44ADD5650BAD}"/>
              </a:ext>
            </a:extLst>
          </p:cNvPr>
          <p:cNvSpPr>
            <a:spLocks noGrp="1"/>
          </p:cNvSpPr>
          <p:nvPr/>
        </p:nvSpPr>
        <p:spPr>
          <a:xfrm>
            <a:off x="10763250" y="5676900"/>
            <a:ext cx="8191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10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702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1D0557E-DE44-418D-94D7-780E80FF42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Problema e conectividade 8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88428EA4-1549-427A-BD65-C2468D99E7B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54278C9-AA52-4F08-B50E-72A572177D2C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1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71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3" name="Tabela 12"/>
          <p:cNvGraphicFramePr/>
          <p:nvPr/>
        </p:nvGraphicFramePr>
        <p:xfrm>
          <a:off x="876300" y="1619250"/>
          <a:ext cx="3905250" cy="3905250"/>
        </p:xfrm>
        <a:graphic>
          <a:graphicData uri="http://schemas.openxmlformats.org/drawingml/2006/table">
            <a:tbl>
              <a:tblPr/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96E6276B-49BF-40D4-9F68-2D37C6D4058F}"/>
              </a:ext>
            </a:extLst>
          </p:cNvPr>
          <p:cNvSpPr>
            <a:spLocks noGrp="1"/>
          </p:cNvSpPr>
          <p:nvPr/>
        </p:nvSpPr>
        <p:spPr>
          <a:xfrm>
            <a:off x="2000250" y="567690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64D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4D7D"/>
                </a:solidFill>
                <a:latin typeface="Arial"/>
                <a:ea typeface="Arial"/>
                <a:cs typeface="Arial"/>
              </a:rPr>
              <a:t>3 objetos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2823C6F-C506-409D-8E8C-3CF708DF7E4A}"/>
              </a:ext>
            </a:extLst>
          </p:cNvPr>
          <p:cNvSpPr>
            <a:spLocks noGrp="1"/>
          </p:cNvSpPr>
          <p:nvPr/>
        </p:nvSpPr>
        <p:spPr>
          <a:xfrm>
            <a:off x="5715000" y="1790700"/>
            <a:ext cx="5334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119"/>
          </a:bodyPr>
          <a:lstStyle/>
          <a:p>
            <a:pPr algn="l">
              <a:defRPr sz="202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Células de valor 1 pertencem ao mesmo objeto quando se tocam por uma aresta ou por um canto.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5C7FAE2-90D8-4A5E-8B03-DA465FC32513}"/>
              </a:ext>
            </a:extLst>
          </p:cNvPr>
          <p:cNvSpPr>
            <a:spLocks noGrp="1"/>
          </p:cNvSpPr>
          <p:nvPr/>
        </p:nvSpPr>
        <p:spPr>
          <a:xfrm>
            <a:off x="5715000" y="314325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Cada célula pode ter até 8 vizinhas.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8CA83B3-6D6E-4C85-802D-0EBDCDC5BECE}"/>
              </a:ext>
            </a:extLst>
          </p:cNvPr>
          <p:cNvSpPr>
            <a:spLocks noGrp="1"/>
          </p:cNvSpPr>
          <p:nvPr/>
        </p:nvSpPr>
        <p:spPr>
          <a:xfrm>
            <a:off x="5715000" y="3886200"/>
            <a:ext cx="5334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A versão paralela precisa preservar conexões horizontais, verticais e diagonais mesmo quando um objeto atravessa a divisão do trabalho.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68B95B5-B517-4906-BA6C-ECC9B58A1AE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Sistemas Operacionais · PUCRS · 2026/II</a:t>
            </a:r>
          </a:p>
        </p:txBody>
      </p:sp>
    </p:spTree>
    <p:extLst>
      <p:ext uri="{BB962C8B-B14F-4D97-AF65-F5344CB8AC3E}">
        <p14:creationId xmlns:p14="http://schemas.microsoft.com/office/powerpoint/2010/main" val="125420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86161080-C3CE-459C-939D-23BEB78D265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Referência sequencial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F894E7B1-D756-4E4C-A916-F84DF3B9D44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5A4605D-8A8A-4774-8B75-F6760CDBEC06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1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71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DDE02B-24E2-40B9-AAC1-498969B8539E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514350" cy="514350"/>
          </a:xfrm>
          <a:prstGeom prst="rect">
            <a:avLst/>
          </a:prstGeom>
          <a:solidFill>
            <a:srgbClr val="164D7D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A046E21-BC21-41B8-8B39-306122054DAC}"/>
              </a:ext>
            </a:extLst>
          </p:cNvPr>
          <p:cNvSpPr>
            <a:spLocks noGrp="1"/>
          </p:cNvSpPr>
          <p:nvPr/>
        </p:nvSpPr>
        <p:spPr>
          <a:xfrm>
            <a:off x="1619250" y="1657350"/>
            <a:ext cx="8858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534"/>
                </a:solidFill>
                <a:latin typeface="Arial"/>
                <a:ea typeface="Arial"/>
                <a:cs typeface="Arial"/>
              </a:rPr>
              <a:t>Percorrer a matriz até encontrar um 1 ainda não visitado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3F3BAE-3E25-485A-9C60-B4C450AA7EBC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514350" cy="514350"/>
          </a:xfrm>
          <a:prstGeom prst="rect">
            <a:avLst/>
          </a:prstGeom>
          <a:solidFill>
            <a:srgbClr val="164D7D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2CB7063-B301-4B1A-BE4D-BF1F74D01305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8858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534"/>
                </a:solidFill>
                <a:latin typeface="Arial"/>
                <a:ea typeface="Arial"/>
                <a:cs typeface="Arial"/>
              </a:rPr>
              <a:t>Incrementar a contagem e executar flood fill iterativo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8E4097-8EEC-4E63-A8D6-A652E02613C7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514350" cy="514350"/>
          </a:xfrm>
          <a:prstGeom prst="rect">
            <a:avLst/>
          </a:prstGeom>
          <a:solidFill>
            <a:srgbClr val="164D7D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789159B-FEAC-4AF7-BA43-F867A2C1336B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8858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534"/>
                </a:solidFill>
                <a:latin typeface="Arial"/>
                <a:ea typeface="Arial"/>
                <a:cs typeface="Arial"/>
              </a:rPr>
              <a:t>Marcar cada uma das oito vizinhas antes de empilhá-la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702753C-3D03-4643-B276-C5B8C97C6093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Pilha no heap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70B975-4391-4C23-845C-7A6ED7E8FCA0}"/>
              </a:ext>
            </a:extLst>
          </p:cNvPr>
          <p:cNvSpPr>
            <a:spLocks noGrp="1"/>
          </p:cNvSpPr>
          <p:nvPr/>
        </p:nvSpPr>
        <p:spPr>
          <a:xfrm>
            <a:off x="876300" y="546735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Evita estouro de pilha causado por recursão em objetos grandes.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6B970E7-5149-450B-AFAF-CBF351686306}"/>
              </a:ext>
            </a:extLst>
          </p:cNvPr>
          <p:cNvSpPr>
            <a:spLocks noGrp="1"/>
          </p:cNvSpPr>
          <p:nvPr/>
        </p:nvSpPr>
        <p:spPr>
          <a:xfrm>
            <a:off x="6858000" y="5010150"/>
            <a:ext cx="1428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Custo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C5D696C-33D0-4924-900F-904DEDC14AF0}"/>
              </a:ext>
            </a:extLst>
          </p:cNvPr>
          <p:cNvSpPr>
            <a:spLocks noGrp="1"/>
          </p:cNvSpPr>
          <p:nvPr/>
        </p:nvSpPr>
        <p:spPr>
          <a:xfrm>
            <a:off x="6858000" y="54673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Tempo O(L × C) e memória O(L × C).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74E1BD2-67F1-4FD4-B02A-1C1C913F791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Sistemas Operacionais · PUCRS · 2026/II</a:t>
            </a:r>
          </a:p>
        </p:txBody>
      </p:sp>
    </p:spTree>
    <p:extLst>
      <p:ext uri="{BB962C8B-B14F-4D97-AF65-F5344CB8AC3E}">
        <p14:creationId xmlns:p14="http://schemas.microsoft.com/office/powerpoint/2010/main" val="1272947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6E67655-DD0A-40C6-BC9B-44695B56FC0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Decomposição por faixas de linhas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E566BD45-45AB-4914-A940-63C723DAB4F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71B6FA9-48D1-48AF-9557-BA9EB77E351C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1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6" name="Tabela 15"/>
          <p:cNvGraphicFramePr/>
          <p:nvPr/>
        </p:nvGraphicFramePr>
        <p:xfrm>
          <a:off x="685800" y="1809750"/>
          <a:ext cx="6096000" cy="3429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onector Reto 4">
            <a:extLst>
              <a:ext uri="{FF2B5EF4-FFF2-40B4-BE49-F238E27FC236}">
                <a16:creationId xmlns:a16="http://schemas.microsoft.com/office/drawing/2014/main" id="{3F070C13-3ADC-46CE-9976-8A8177266365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6096000" cy="0"/>
          </a:xfrm>
          <a:prstGeom prst="line">
            <a:avLst/>
          </a:prstGeom>
          <a:noFill/>
          <a:ln w="5715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D20207-A209-4ADC-B145-04955E3AB224}"/>
              </a:ext>
            </a:extLst>
          </p:cNvPr>
          <p:cNvSpPr>
            <a:spLocks noGrp="1"/>
          </p:cNvSpPr>
          <p:nvPr/>
        </p:nvSpPr>
        <p:spPr>
          <a:xfrm>
            <a:off x="1866900" y="140970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164D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4D7D"/>
                </a:solidFill>
                <a:latin typeface="Arial"/>
                <a:ea typeface="Arial"/>
                <a:cs typeface="Arial"/>
              </a:rPr>
              <a:t>Thread 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D9FF31B-7947-425C-A99F-EA7E2399C04F}"/>
              </a:ext>
            </a:extLst>
          </p:cNvPr>
          <p:cNvSpPr>
            <a:spLocks noGrp="1"/>
          </p:cNvSpPr>
          <p:nvPr/>
        </p:nvSpPr>
        <p:spPr>
          <a:xfrm>
            <a:off x="4095750" y="53911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Thread 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96E760E-5047-4192-BD91-790FF553D91D}"/>
              </a:ext>
            </a:extLst>
          </p:cNvPr>
          <p:cNvSpPr>
            <a:spLocks noGrp="1"/>
          </p:cNvSpPr>
          <p:nvPr/>
        </p:nvSpPr>
        <p:spPr>
          <a:xfrm>
            <a:off x="7562850" y="18097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Fase local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177A10-7837-4AFC-86BE-25FFAB9982C7}"/>
              </a:ext>
            </a:extLst>
          </p:cNvPr>
          <p:cNvSpPr>
            <a:spLocks noGrp="1"/>
          </p:cNvSpPr>
          <p:nvPr/>
        </p:nvSpPr>
        <p:spPr>
          <a:xfrm>
            <a:off x="7562850" y="2305050"/>
            <a:ext cx="36195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Cada thread percorre apenas suas linhas, executa flood fill e grava rótulos exclusivos.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DD2942-B529-4BBA-AB68-04F6ED353393}"/>
              </a:ext>
            </a:extLst>
          </p:cNvPr>
          <p:cNvSpPr>
            <a:spLocks noGrp="1"/>
          </p:cNvSpPr>
          <p:nvPr/>
        </p:nvSpPr>
        <p:spPr>
          <a:xfrm>
            <a:off x="75628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4856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856B"/>
                </a:solidFill>
                <a:latin typeface="Arial"/>
                <a:ea typeface="Arial"/>
                <a:cs typeface="Arial"/>
              </a:rPr>
              <a:t>Sem corrida na matriz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8A43628-C117-4C91-8BB1-3769EF056596}"/>
              </a:ext>
            </a:extLst>
          </p:cNvPr>
          <p:cNvSpPr>
            <a:spLocks noGrp="1"/>
          </p:cNvSpPr>
          <p:nvPr/>
        </p:nvSpPr>
        <p:spPr>
          <a:xfrm>
            <a:off x="7562850" y="4248150"/>
            <a:ext cx="36195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367"/>
          </a:bodyPr>
          <a:lstStyle/>
          <a:p>
            <a:pPr algn="l">
              <a:defRPr sz="172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Faixas não se sobrepõem. A divisão balanceia linhas excedentes entre as primeiras threads.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9C0051-B242-40D5-B1EB-344154025BB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Sistemas Operacionais · PUCRS · 2026/II</a:t>
            </a:r>
          </a:p>
        </p:txBody>
      </p:sp>
    </p:spTree>
    <p:extLst>
      <p:ext uri="{BB962C8B-B14F-4D97-AF65-F5344CB8AC3E}">
        <p14:creationId xmlns:p14="http://schemas.microsoft.com/office/powerpoint/2010/main" val="127008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3351ABE5-BE22-48A9-ABE0-F1B181C0B20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Consolidação após pthread_join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602F7D19-273B-45ED-B048-703D4506A11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75021E-259E-4F84-94AA-7C3D9F408A0C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1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71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0ACAD4E-D4C9-493C-9C61-1F7FDDD4A84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5619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Fronteira entre duas faixas</a:t>
            </a:r>
          </a:p>
        </p:txBody>
      </p:sp>
      <p:graphicFrame>
        <p:nvGraphicFramePr>
          <p:cNvPr id="21" name="Tabela 20"/>
          <p:cNvGraphicFramePr/>
          <p:nvPr/>
        </p:nvGraphicFramePr>
        <p:xfrm>
          <a:off x="685800" y="2171700"/>
          <a:ext cx="6000750" cy="171450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38100" marR="38100" marT="28575" marB="28575" anchor="ctr">
                    <a:solidFill>
                      <a:srgbClr val="164D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38100" marR="38100" marT="28575" marB="28575" anchor="ctr">
                    <a:solidFill>
                      <a:srgbClr val="F28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38100" marR="38100" marT="28575" marB="28575" anchor="ctr">
                    <a:solidFill>
                      <a:srgbClr val="F28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38100" marR="38100" marT="28575" marB="28575" anchor="ctr">
                    <a:solidFill>
                      <a:srgbClr val="F28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38100" marR="38100" marT="28575" marB="28575" anchor="ctr">
                    <a:solidFill>
                      <a:srgbClr val="F28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F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ector Reto 5">
            <a:extLst>
              <a:ext uri="{FF2B5EF4-FFF2-40B4-BE49-F238E27FC236}">
                <a16:creationId xmlns:a16="http://schemas.microsoft.com/office/drawing/2014/main" id="{2D34C041-48BF-415C-A11C-8E605BF3E0EF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6000750" cy="0"/>
          </a:xfrm>
          <a:prstGeom prst="line">
            <a:avLst/>
          </a:prstGeom>
          <a:noFill/>
          <a:ln w="5715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3376E4-3B10-4076-A247-A29BC5F4CE35}"/>
              </a:ext>
            </a:extLst>
          </p:cNvPr>
          <p:cNvSpPr>
            <a:spLocks noGrp="1"/>
          </p:cNvSpPr>
          <p:nvPr/>
        </p:nvSpPr>
        <p:spPr>
          <a:xfrm>
            <a:off x="1085850" y="41148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64D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D7D"/>
                </a:solidFill>
                <a:latin typeface="Arial"/>
                <a:ea typeface="Arial"/>
                <a:cs typeface="Arial"/>
              </a:rPr>
              <a:t>A toca B na diagonal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AB3BCE-E60B-4F0A-A56B-E3861C80118A}"/>
              </a:ext>
            </a:extLst>
          </p:cNvPr>
          <p:cNvSpPr>
            <a:spLocks noGrp="1"/>
          </p:cNvSpPr>
          <p:nvPr/>
        </p:nvSpPr>
        <p:spPr>
          <a:xfrm>
            <a:off x="4171950" y="41148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union(A, B)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26B766A-B431-45F4-AF82-46A68BF85079}"/>
              </a:ext>
            </a:extLst>
          </p:cNvPr>
          <p:cNvSpPr>
            <a:spLocks noGrp="1"/>
          </p:cNvSpPr>
          <p:nvPr/>
        </p:nvSpPr>
        <p:spPr>
          <a:xfrm>
            <a:off x="7448550" y="1695450"/>
            <a:ext cx="438150" cy="438150"/>
          </a:xfrm>
          <a:prstGeom prst="rect">
            <a:avLst/>
          </a:prstGeom>
          <a:solidFill>
            <a:srgbClr val="123B6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0DCCC5-44AD-4B27-9FD3-4BC64E1CF545}"/>
              </a:ext>
            </a:extLst>
          </p:cNvPr>
          <p:cNvSpPr>
            <a:spLocks noGrp="1"/>
          </p:cNvSpPr>
          <p:nvPr/>
        </p:nvSpPr>
        <p:spPr>
          <a:xfrm>
            <a:off x="8096250" y="1638300"/>
            <a:ext cx="34290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pthread_join garante que todos os rótulos locais estão prontos.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20C85D-6D94-4FD2-BE43-21B069050B40}"/>
              </a:ext>
            </a:extLst>
          </p:cNvPr>
          <p:cNvSpPr>
            <a:spLocks noGrp="1"/>
          </p:cNvSpPr>
          <p:nvPr/>
        </p:nvSpPr>
        <p:spPr>
          <a:xfrm>
            <a:off x="7448550" y="2838450"/>
            <a:ext cx="438150" cy="438150"/>
          </a:xfrm>
          <a:prstGeom prst="rect">
            <a:avLst/>
          </a:prstGeom>
          <a:solidFill>
            <a:srgbClr val="123B6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CF1658C-FA4D-4DC4-A56E-691DCB90BE01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34290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A thread principal compara as três posições adjacentes em cada fronteira.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479240-7016-419C-ABAD-4AE7466022E2}"/>
              </a:ext>
            </a:extLst>
          </p:cNvPr>
          <p:cNvSpPr>
            <a:spLocks noGrp="1"/>
          </p:cNvSpPr>
          <p:nvPr/>
        </p:nvSpPr>
        <p:spPr>
          <a:xfrm>
            <a:off x="7448550" y="4171950"/>
            <a:ext cx="438150" cy="438150"/>
          </a:xfrm>
          <a:prstGeom prst="rect">
            <a:avLst/>
          </a:prstGeom>
          <a:solidFill>
            <a:srgbClr val="123B63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9AE7F5E-788B-4ED7-8FBC-E288BC501812}"/>
              </a:ext>
            </a:extLst>
          </p:cNvPr>
          <p:cNvSpPr>
            <a:spLocks noGrp="1"/>
          </p:cNvSpPr>
          <p:nvPr/>
        </p:nvSpPr>
        <p:spPr>
          <a:xfrm>
            <a:off x="8096250" y="4114800"/>
            <a:ext cx="34290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Union-find unifica equivalências transitivas e evita contagem duplicada.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AABC6E0-3ED9-49D9-969D-DA23DACE8A72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763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875" b="1">
                <a:solidFill>
                  <a:srgbClr val="2485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856B"/>
                </a:solidFill>
                <a:latin typeface="Arial"/>
                <a:ea typeface="Arial"/>
                <a:cs typeface="Arial"/>
              </a:rPr>
              <a:t>A consolidação não exige mutex porque começa somente depois dos joins.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1D0FEA5-5046-415B-81EB-A647A86D533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Sistemas Operacionais · PUCRS · 2026/II</a:t>
            </a:r>
          </a:p>
        </p:txBody>
      </p:sp>
    </p:spTree>
    <p:extLst>
      <p:ext uri="{BB962C8B-B14F-4D97-AF65-F5344CB8AC3E}">
        <p14:creationId xmlns:p14="http://schemas.microsoft.com/office/powerpoint/2010/main" val="198972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3770F7-4DA5-4D41-BB88-B13B61A2C04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Resultados das matrizes obrigatórias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B3C0894F-F755-4134-935C-CC04B64ED2D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0EC8B3-ED17-4A3E-802E-049831B1A983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1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71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A951F15-516A-44F7-9A59-0B95024EDCD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1725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4"/>
                </a:solidFill>
                <a:latin typeface="Arial"/>
                <a:ea typeface="Arial"/>
                <a:cs typeface="Arial"/>
              </a:rPr>
              <a:t>As duas versões reproduziram todas as contagens esperadas.</a:t>
            </a:r>
          </a:p>
        </p:txBody>
      </p:sp>
      <p:graphicFrame>
        <p:nvGraphicFramePr>
          <p:cNvPr id="12" name="Tabela 11"/>
          <p:cNvGraphicFramePr/>
          <p:nvPr/>
        </p:nvGraphicFramePr>
        <p:xfrm>
          <a:off x="685800" y="2095500"/>
          <a:ext cx="10820400" cy="31432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</a:t>
                      </a:r>
                    </a:p>
                  </a:txBody>
                  <a:tcPr marL="38100" marR="38100" marT="28575" marB="28575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Dimensão</a:t>
                      </a:r>
                    </a:p>
                  </a:txBody>
                  <a:tcPr marL="38100" marR="38100" marT="28575" marB="28575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Esperado</a:t>
                      </a:r>
                    </a:p>
                  </a:txBody>
                  <a:tcPr marL="38100" marR="38100" marT="28575" marB="28575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Sequencial</a:t>
                      </a:r>
                    </a:p>
                  </a:txBody>
                  <a:tcPr marL="38100" marR="38100" marT="28575" marB="28575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threads</a:t>
                      </a:r>
                    </a:p>
                  </a:txBody>
                  <a:tcPr marL="38100" marR="38100" marT="28575" marB="28575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 threads</a:t>
                      </a:r>
                    </a:p>
                  </a:txBody>
                  <a:tcPr marL="38100" marR="38100" marT="28575" marB="28575" anchor="ctr">
                    <a:solidFill>
                      <a:srgbClr val="12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5 × 5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6 × 8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8 × 8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9 × 12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12 × 12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534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4856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DAC1EC25-4FD1-43BF-8F13-0E7B4A5D5261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Testes adicionais: matriz vazia, cadeia diagonal e 20 matrizes aleatórias.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D48B53-9C19-494B-82B7-FA32A8732D2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Sistemas Operacionais · PUCRS · 2026/II</a:t>
            </a:r>
          </a:p>
        </p:txBody>
      </p:sp>
    </p:spTree>
    <p:extLst>
      <p:ext uri="{BB962C8B-B14F-4D97-AF65-F5344CB8AC3E}">
        <p14:creationId xmlns:p14="http://schemas.microsoft.com/office/powerpoint/2010/main" val="131530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5F0F1E17-9065-4727-B9EF-BD78D6C38F6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Desempenho na matriz 1800 × 1800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1464BB65-687E-40DE-9720-A7729B02016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834304-624B-49B3-8C78-F26B3D03639C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1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71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B1F366-347B-4C0F-8200-DE5E7B5D2E64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Tempo médio de 5 repetições, sem leitura do arquivo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66750" y="1809750"/>
          <a:ext cx="75247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4E9B09DE-B535-45F2-9C54-8A2FB90F6C0D}"/>
              </a:ext>
            </a:extLst>
          </p:cNvPr>
          <p:cNvSpPr>
            <a:spLocks noGrp="1"/>
          </p:cNvSpPr>
          <p:nvPr/>
        </p:nvSpPr>
        <p:spPr>
          <a:xfrm>
            <a:off x="8858250" y="2152650"/>
            <a:ext cx="2190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450" b="1">
                <a:solidFill>
                  <a:srgbClr val="256FB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6FB2"/>
                </a:solidFill>
                <a:latin typeface="Arial"/>
                <a:ea typeface="Arial"/>
                <a:cs typeface="Arial"/>
              </a:rPr>
              <a:t>1,59×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B19880-947C-4A67-99C0-A1F4C38BB5F4}"/>
              </a:ext>
            </a:extLst>
          </p:cNvPr>
          <p:cNvSpPr>
            <a:spLocks noGrp="1"/>
          </p:cNvSpPr>
          <p:nvPr/>
        </p:nvSpPr>
        <p:spPr>
          <a:xfrm>
            <a:off x="8572500" y="2819400"/>
            <a:ext cx="2762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aceleração com 2 threads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A1D7F0C-3B3D-4320-85AF-3A17CAEDE3D0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2190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45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3,16×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A3BC9BA-67CC-4CEB-9FF9-ACB4043510FF}"/>
              </a:ext>
            </a:extLst>
          </p:cNvPr>
          <p:cNvSpPr>
            <a:spLocks noGrp="1"/>
          </p:cNvSpPr>
          <p:nvPr/>
        </p:nvSpPr>
        <p:spPr>
          <a:xfrm>
            <a:off x="8572500" y="4419600"/>
            <a:ext cx="2762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aceleração com 4 threads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6020BB1-3E9B-45CA-952D-953589825B1F}"/>
              </a:ext>
            </a:extLst>
          </p:cNvPr>
          <p:cNvSpPr>
            <a:spLocks noGrp="1"/>
          </p:cNvSpPr>
          <p:nvPr/>
        </p:nvSpPr>
        <p:spPr>
          <a:xfrm>
            <a:off x="8305800" y="5295900"/>
            <a:ext cx="32004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32"/>
          </a:bodyPr>
          <a:lstStyle/>
          <a:p>
            <a:pPr algn="ctr">
              <a:defRPr sz="1575" b="1">
                <a:solidFill>
                  <a:srgbClr val="2485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856B"/>
                </a:solidFill>
                <a:latin typeface="Arial"/>
                <a:ea typeface="Arial"/>
                <a:cs typeface="Arial"/>
              </a:rPr>
              <a:t>Todas as configurações contaram 68.267 objetos.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793763F-C7B7-4D24-80FA-FF7CBBEFCCB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5E71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185"/>
                </a:solidFill>
                <a:latin typeface="Arial"/>
                <a:ea typeface="Arial"/>
                <a:cs typeface="Arial"/>
              </a:rPr>
              <a:t>Sistemas Operacionais · PUCRS · 2026/II</a:t>
            </a:r>
          </a:p>
        </p:txBody>
      </p:sp>
    </p:spTree>
    <p:extLst>
      <p:ext uri="{BB962C8B-B14F-4D97-AF65-F5344CB8AC3E}">
        <p14:creationId xmlns:p14="http://schemas.microsoft.com/office/powerpoint/2010/main" val="142101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EE64E25-D2FC-4812-90C0-89D2BC6510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525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Conclusões e demonstração</a:t>
            </a:r>
          </a:p>
        </p:txBody>
      </p:sp>
      <p:sp>
        <p:nvSpPr>
          <p:cNvPr id="2" name="Conector Reto 1">
            <a:extLst>
              <a:ext uri="{FF2B5EF4-FFF2-40B4-BE49-F238E27FC236}">
                <a16:creationId xmlns:a16="http://schemas.microsoft.com/office/drawing/2014/main" id="{2DC9FA93-8F1F-434E-BEF3-F254649EF2E2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38100">
            <a:solidFill>
              <a:srgbClr val="F28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ED78BE-4554-4941-82E5-25D706353422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A9CB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CBE7"/>
                </a:solidFill>
                <a:latin typeface="Arial"/>
                <a:ea typeface="Arial"/>
                <a:cs typeface="Arial"/>
              </a:rPr>
              <a:t>CORREÇÃO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B1F6DF-CD4E-4DC7-9DEF-27317A507146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4953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Conectividade 8 preservada em todas as divisões testadas.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D58EF1-26FC-428F-B15A-AEC4E083BAC3}"/>
              </a:ext>
            </a:extLst>
          </p:cNvPr>
          <p:cNvSpPr>
            <a:spLocks noGrp="1"/>
          </p:cNvSpPr>
          <p:nvPr/>
        </p:nvSpPr>
        <p:spPr>
          <a:xfrm>
            <a:off x="6477000" y="16383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A9CB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CBE7"/>
                </a:solidFill>
                <a:latin typeface="Arial"/>
                <a:ea typeface="Arial"/>
                <a:cs typeface="Arial"/>
              </a:rPr>
              <a:t>PARALELISMO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D212029-AC78-42F8-A776-C452426B13C9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4953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677"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Rotulagem local concorrente; apenas as fronteiras ficam para a consolidação.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62F9435-93CF-4097-9356-25C338C41186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7613E4-9DE2-4867-9530-78A5164C2433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0668000" cy="1200150"/>
          </a:xfrm>
          <a:prstGeom prst="rect">
            <a:avLst/>
          </a:prstGeom>
          <a:solidFill>
            <a:srgbClr val="0B2A47"/>
          </a:solidFill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0">
                <a:solidFill>
                  <a:srgbClr val="D7E7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7F3"/>
                </a:solidFill>
                <a:latin typeface="Arial"/>
                <a:ea typeface="Arial"/>
                <a:cs typeface="Arial"/>
              </a:rPr>
              <a:t>make test</a:t>
            </a:r>
          </a:p>
          <a:p>
            <a:pPr algn="l">
              <a:defRPr sz="1950" b="0">
                <a:solidFill>
                  <a:srgbClr val="D7E7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7F3"/>
                </a:solidFill>
                <a:latin typeface="Arial"/>
                <a:ea typeface="Arial"/>
                <a:cs typeface="Arial"/>
              </a:rPr>
              <a:t>make benchmark</a:t>
            </a:r>
          </a:p>
          <a:p>
            <a:pPr algn="l">
              <a:defRPr sz="1950" b="0">
                <a:solidFill>
                  <a:srgbClr val="D7E7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7F3"/>
                </a:solidFill>
                <a:latin typeface="Arial"/>
                <a:ea typeface="Arial"/>
                <a:cs typeface="Arial"/>
              </a:rPr>
              <a:t>bin/conta-objetos-paralelo tests/matrizes/exemplo5.txt 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C204009-CCFC-4373-8C02-01F5E7F243D0}"/>
              </a:ext>
            </a:extLst>
          </p:cNvPr>
          <p:cNvSpPr>
            <a:spLocks noGrp="1"/>
          </p:cNvSpPr>
          <p:nvPr/>
        </p:nvSpPr>
        <p:spPr>
          <a:xfrm>
            <a:off x="10763250" y="5848350"/>
            <a:ext cx="8191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800" b="1">
                <a:solidFill>
                  <a:srgbClr val="F28C3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8C3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97785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773</Words>
  <Application>Microsoft Macintosh PowerPoint</Application>
  <DocSecurity>0</DocSecurity>
  <PresentationFormat>Widescreen</PresentationFormat>
  <Paragraphs>205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GIOVANNI PEREIRA</cp:lastModifiedBy>
  <cp:revision>1</cp:revision>
  <dcterms:created xsi:type="dcterms:W3CDTF">2026-09-29T23:22:05Z</dcterms:created>
  <dcterms:modified xsi:type="dcterms:W3CDTF">2026-10-06T23:51:58Z</dcterms:modified>
</cp:coreProperties>
</file>